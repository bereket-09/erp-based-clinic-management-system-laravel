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DDU Clinic — one secure platform for the entire campus clinic. I'm Bereket Zelalem, a Dire Dawa University alumnus, and I'm bringing this home to my own university.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story. I'm a DDU alumnus. This began as my final-year graduation project, and it grew into a real platform for the very clinic that looked after me. I'm bringing it home — from the alumni, back to the university.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campus clinic serves five to ten thousand students and staff on paper and fragmented tools. Records get lost, queues are long, sick-leave certificates can't be verified, and leadership has no data to plan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is one connected platform covering the whole journey — reception to records. Information follows the patient. It's secure by design and every document it issues can be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visit follows a guided path from reception to a lasting record. The system always knows the correct next step and routes hand-offs automatically — for example, lab results come back to the ordering doctor rather than ending the visit.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 campus clinic does is here: reception, triage, consultations, lab, pharmacy, wards, referrals and appointments for care; billing, HR, store and reports for operations; plus the student portal, the Saba AI assistant, configurable modules and built-in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hood, three ideas keep it dependable. A workflow engine means the right next step is always offered. Backend-driven screens mean people only ever see what they're allowed to do. And feature toggles with white-label branding mean it configures to any institution without code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built in, not bolted on. Access is role-based; sign-in supports two-factor and passkeys; every action is audited; and staff on approved leave are automatically locked out until they return — process and security working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differentiator. Every document the clinic issues is tamper-evident: it carries a QR and a short code, and anyone can check it at the public verify page with no login. A genuine document always verifies; a forged or edited one never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Saba is our AI copilot with two faces: history-aware support for doctors and a caring guide for students. Crucially it is strictly read-only and access-controlled — it can look things up and explain, but never change anything, and it only shows each user what they're allowed to see. It runs on affordable or even free AI, including a fully on-premise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produces all the documents a clinic needs — sick-leave certificates, prescriptions, lab reports, referral letters, discharge and visit summaries — on university letterhead, each signed and carrying a verifiable QR seal.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impact is immediate: one record per student, fully verifiable documents, eight roles working from one system, and round-the-clock oversight for leadership. Faster care, far less paper, and a single trusted source of truth — with data to keep improving. These figures illustrate the model the platform enables.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cloud-native and low-cost. It can run serverless in the cloud, paying only for what's used, or on a campus server if the university prefers. There's nothing to install — it's just a website — and it scales affordably to ten thousand students and beyond.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Importantly, this is not a concept. It is already built and deployed, with a working demo you can try today. Everything shown in this deck exists and runs right now, on realistic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ahead, the roadmap is light and practical: mobile and tablet apps for the same flows, so the clinic avoids buying expensive desktops everywhere, and a standalone student app for clinic status. This also fits a bigger campus digital-lifestyle vision — but that's a separate future initiative.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ask is simple: partner with me to deploy DDU Clinic across the university. Start with a short pilot in the student clinic, roll it out campus-wide, and grow together from there. The next step is just a thirty-minute walkthrough of the live system whenever suits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From the alumni, back to the university. I'd love to take this forward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34440" cy="12344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81226">
                <a:alpha val="35000"/>
              </a:srgbClr>
            </a:outerShdw>
          </a:effectLst>
        </p:spPr>
      </p:sp>
      <p:pic>
        <p:nvPicPr>
          <p:cNvPr id="3" name="Image 0" descr="/Users/infradev/Documents/Source-codes/ERP-Based-Clinic-Management-System-Laravel/docs/product/assets/ddu-logo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694944"/>
            <a:ext cx="978408" cy="97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 DAWA UNIVERSITY  ·  STUDENT CLINIC CENTER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secure platform for the </a:t>
            </a:r>
            <a:pPr algn="l" indent="0" marL="0">
              <a:buNone/>
            </a:pPr>
            <a:r>
              <a:rPr lang="en-US" sz="270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campus clinic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43434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Reception, doctors, lab, pharmacy, wards, referrals, billing and records — connected, verifiable and built to last.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5532120"/>
            <a:ext cx="0" cy="457200"/>
          </a:xfrm>
          <a:prstGeom prst="line">
            <a:avLst/>
          </a:prstGeom>
          <a:noFill/>
          <a:ln w="31750">
            <a:solidFill>
              <a:srgbClr val="E0A1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5486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Bereket Zelalem</a:t>
            </a:r>
            <a:pPr algn="l" indent="0" marL="0">
              <a:lnSpc>
                <a:spcPts val="1800"/>
              </a:lnSpc>
              <a:buNone/>
            </a:pP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 Dawa University alumnus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280160"/>
            <a:ext cx="3685032" cy="4297680"/>
          </a:xfrm>
          <a:prstGeom prst="roundRect">
            <a:avLst>
              <a:gd name="adj" fmla="val 2978"/>
            </a:avLst>
          </a:prstGeom>
          <a:solidFill>
            <a:srgbClr val="F2F6FD"/>
          </a:solidFill>
          <a:ln w="12700">
            <a:solidFill>
              <a:srgbClr val="DFE8F6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pic>
        <p:nvPicPr>
          <p:cNvPr id="3" name="Image 0" descr="/Users/infradev/Documents/Source-codes/ERP-Based-Clinic-Management-System-Laravel/docs/product/assets/ddu-logo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36" y="169164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3886200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 Dawa University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55280" y="4224528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started. Where it belongs.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229600" y="470916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300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alumni,</a:t>
            </a:r>
            <a:endParaRPr lang="en-US" sz="3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university.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681228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THIS, WHY ME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began as my graduation</a:t>
            </a:r>
            <a:endParaRPr lang="en-US" sz="33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project. I'm bringing it home.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548640" y="22860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studied here. Dire Dawa University shaped me — so when it came time to build my final-year graduation project, I built something my own campus could truly use.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3310128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started as a student project grew into a complete, working platform for the student clinic that cared for me and thousands like me.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334256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 want to give it back — not as a demo, but as a real system for the university that gave me my start. This is alumni giving back, in the most practical way I know.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 for thousands,</a:t>
            </a:r>
            <a:endParaRPr lang="en-US" sz="33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on paper.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366760" y="603504"/>
            <a:ext cx="3246120" cy="1572768"/>
          </a:xfrm>
          <a:prstGeom prst="roundRect">
            <a:avLst>
              <a:gd name="adj" fmla="val 6977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822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5,000–10,000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366760" y="1444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staff depend on one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clinic — every term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770632"/>
            <a:ext cx="658368" cy="658368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10" name="Image 0" descr="/private/tmp/claude-501/-Users-infradev-Documents-Source-codes-ERP-Based-Clinic-Management-System-Laravel/7c1a51c4-35d8-456b-9267-753b9149be7b/scratchpad/deck/icons/folderx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80" y="2928640"/>
            <a:ext cx="342351" cy="3423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275234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&amp; scattered records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645920" y="31181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files and disconnected tools — a student's history is never in one place when it's needed.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251460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3952" y="2770632"/>
            <a:ext cx="658368" cy="658368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15" name="Image 1" descr="/private/tmp/claude-501/-Users-infradev-Documents-Source-codes-ERP-Based-Clinic-Management-System-Laravel/7c1a51c4-35d8-456b-9267-753b9149be7b/scratchpad/deck/icons/clock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960" y="2928640"/>
            <a:ext cx="342351" cy="3423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75234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queues, slow care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315200" y="31181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queue or status; patients wait while staff hunt for files and re-ask the same questions.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361688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" y="4617720"/>
            <a:ext cx="658368" cy="658368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20" name="Image 2" descr="/private/tmp/claude-501/-Users-infradev-Documents-Source-codes-ERP-Based-Clinic-Management-System-Laravel/7c1a51c4-35d8-456b-9267-753b9149be7b/scratchpad/deck/icons/filewarning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0" y="4775728"/>
            <a:ext cx="342351" cy="34235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5994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Sick-leave can't be trusted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645920" y="49651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certificates are easy to forge and impossible for faculty to verify.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17920" y="4361688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73952" y="4617720"/>
            <a:ext cx="658368" cy="658368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25" name="Image 3" descr="/private/tmp/claude-501/-Users-infradev-Documents-Source-codes-ERP-Based-Clinic-Management-System-Laravel/7c1a51c4-35d8-456b-9267-753b9149be7b/scratchpad/deck/icons/eyeoff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960" y="4775728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45994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oversight, no data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315200" y="49651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has no live view of demand, throughput, stock or outcomes to plan around.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platform,</a:t>
            </a:r>
            <a:endParaRPr lang="en-US" sz="33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journey.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care lives in a single secure system — so information follows the patient instead of getting stuck at a desk.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971800"/>
            <a:ext cx="658368" cy="658368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8" name="Image 0" descr="/private/tmp/claude-501/-Users-infradev-Documents-Source-codes-ERP-Based-Clinic-Management-System-Laravel/7c1a51c4-35d8-456b-9267-753b9149be7b/scratchpad/deck/icons/netwo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13639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64208" y="29169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record per student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6420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connected chart — visits, results, prescriptions and documents in one place.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69748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2971800"/>
            <a:ext cx="658368" cy="658368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3" name="Image 1" descr="/private/tmp/claude-501/-Users-infradev-Documents-Source-codes-ERP-Based-Clinic-Management-System-Laravel/7c1a51c4-35d8-456b-9267-753b9149be7b/scratchpad/deck/icons/rout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313639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33488" y="29169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care journey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33348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→ doctor → lab → pharmacy → wards → referrals → billing, end to end.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38912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4663440"/>
            <a:ext cx="658368" cy="658368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8" name="Image 2" descr="/private/tmp/claude-501/-Users-infradev-Documents-Source-codes-ERP-Based-Clinic-Management-System-Laravel/7c1a51c4-35d8-456b-9267-753b9149be7b/scratchpad/deck/icons/shield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82803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64208" y="46085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design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64208" y="49651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strong sign-in and a full audit trail on every action.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17920" y="438912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73952" y="4663440"/>
            <a:ext cx="658368" cy="658368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3" name="Image 3" descr="/private/tmp/claude-501/-Users-infradev-Documents-Source-codes-ERP-Based-Clinic-Management-System-Laravel/7c1a51c4-35d8-456b-9267-753b9149be7b/scratchpad/deck/icons/badgeche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82803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33488" y="46085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documents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333488" y="49651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and letters anyone can check as genuine in seconds.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CARE FLOWS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path for every visit.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always knows the right next step — and shows each team exactly what they can do, and nothing they can't.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242041" y="3520440"/>
            <a:ext cx="9707613" cy="0"/>
          </a:xfrm>
          <a:prstGeom prst="line">
            <a:avLst/>
          </a:prstGeom>
          <a:noFill/>
          <a:ln w="25400">
            <a:solidFill>
              <a:srgbClr val="C4D3E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84841" y="3063240"/>
            <a:ext cx="914400" cy="91440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8" name="Image 0" descr="/private/tmp/claude-501/-Users-infradev-Documents-Source-codes-ERP-Based-Clinic-Management-System-Laravel/7c1a51c4-35d8-456b-9267-753b9149be7b/scratchpad/deck/icons/userplu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85" y="3300984"/>
            <a:ext cx="438912" cy="4389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88345" y="3008376"/>
            <a:ext cx="365760" cy="365760"/>
          </a:xfrm>
          <a:prstGeom prst="ellipse">
            <a:avLst/>
          </a:prstGeom>
          <a:solidFill>
            <a:srgbClr val="E0A1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88345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069080"/>
            <a:ext cx="1386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4361688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intake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71643" y="3063240"/>
            <a:ext cx="914400" cy="91440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4" name="Image 1" descr="/private/tmp/claude-501/-Users-infradev-Documents-Source-codes-ERP-Based-Clinic-Management-System-Laravel/7c1a51c4-35d8-456b-9267-753b9149be7b/scratchpad/deck/icons/activity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387" y="3300984"/>
            <a:ext cx="438912" cy="4389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75147" y="3008376"/>
            <a:ext cx="365760" cy="365760"/>
          </a:xfrm>
          <a:prstGeom prst="ellipse">
            <a:avLst/>
          </a:prstGeom>
          <a:solidFill>
            <a:srgbClr val="E0A1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75147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935442" y="4069080"/>
            <a:ext cx="1386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935442" y="4361688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priority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58445" y="3063240"/>
            <a:ext cx="914400" cy="91440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0" name="Image 2" descr="/private/tmp/claude-501/-Users-infradev-Documents-Source-codes-ERP-Based-Clinic-Management-System-Laravel/7c1a51c4-35d8-456b-9267-753b9149be7b/scratchpad/deck/icons/stethoscop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189" y="3300984"/>
            <a:ext cx="438912" cy="4389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161949" y="3008376"/>
            <a:ext cx="365760" cy="365760"/>
          </a:xfrm>
          <a:prstGeom prst="ellipse">
            <a:avLst/>
          </a:prstGeom>
          <a:solidFill>
            <a:srgbClr val="E0A1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161949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322244" y="4069080"/>
            <a:ext cx="1386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3322244" y="4361688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decide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945247" y="3063240"/>
            <a:ext cx="914400" cy="91440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6" name="Image 3" descr="/private/tmp/claude-501/-Users-infradev-Documents-Source-codes-ERP-Based-Clinic-Management-System-Laravel/7c1a51c4-35d8-456b-9267-753b9149be7b/scratchpad/deck/icons/flas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991" y="3300984"/>
            <a:ext cx="438912" cy="43891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548751" y="3008376"/>
            <a:ext cx="365760" cy="365760"/>
          </a:xfrm>
          <a:prstGeom prst="ellipse">
            <a:avLst/>
          </a:prstGeom>
          <a:solidFill>
            <a:srgbClr val="E0A1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548751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09046" y="4069080"/>
            <a:ext cx="1386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4709046" y="4361688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results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332049" y="3063240"/>
            <a:ext cx="914400" cy="91440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32" name="Image 4" descr="/private/tmp/claude-501/-Users-infradev-Documents-Source-codes-ERP-Based-Clinic-Management-System-Laravel/7c1a51c4-35d8-456b-9267-753b9149be7b/scratchpad/deck/icons/pill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793" y="3300984"/>
            <a:ext cx="438912" cy="43891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935553" y="3008376"/>
            <a:ext cx="365760" cy="365760"/>
          </a:xfrm>
          <a:prstGeom prst="ellipse">
            <a:avLst/>
          </a:prstGeom>
          <a:solidFill>
            <a:srgbClr val="E0A1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935553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095848" y="4069080"/>
            <a:ext cx="1386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6095848" y="4361688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7718850" y="3063240"/>
            <a:ext cx="914400" cy="91440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38" name="Image 5" descr="/private/tmp/claude-501/-Users-infradev-Documents-Source-codes-ERP-Based-Clinic-Management-System-Laravel/7c1a51c4-35d8-456b-9267-753b9149be7b/scratchpad/deck/icons/bed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594" y="3300984"/>
            <a:ext cx="438912" cy="438912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8322354" y="3008376"/>
            <a:ext cx="365760" cy="365760"/>
          </a:xfrm>
          <a:prstGeom prst="ellipse">
            <a:avLst/>
          </a:prstGeom>
          <a:solidFill>
            <a:srgbClr val="E0A1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322354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7482650" y="4069080"/>
            <a:ext cx="1386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</a:t>
            </a:r>
            <a:endParaRPr lang="en-US" sz="1350" dirty="0"/>
          </a:p>
        </p:txBody>
      </p:sp>
      <p:sp>
        <p:nvSpPr>
          <p:cNvPr id="42" name="Text 34"/>
          <p:cNvSpPr/>
          <p:nvPr/>
        </p:nvSpPr>
        <p:spPr>
          <a:xfrm>
            <a:off x="7482650" y="4361688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care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9105652" y="3063240"/>
            <a:ext cx="914400" cy="91440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44" name="Image 6" descr="/private/tmp/claude-501/-Users-infradev-Documents-Source-codes-ERP-Based-Clinic-Management-System-Laravel/7c1a51c4-35d8-456b-9267-753b9149be7b/scratchpad/deck/icons/send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3396" y="3300984"/>
            <a:ext cx="438912" cy="438912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9709156" y="3008376"/>
            <a:ext cx="365760" cy="365760"/>
          </a:xfrm>
          <a:prstGeom prst="ellipse">
            <a:avLst/>
          </a:prstGeom>
          <a:solidFill>
            <a:srgbClr val="E0A1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9709156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8869451" y="4069080"/>
            <a:ext cx="1386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</a:t>
            </a:r>
            <a:endParaRPr lang="en-US" sz="1350" dirty="0"/>
          </a:p>
        </p:txBody>
      </p:sp>
      <p:sp>
        <p:nvSpPr>
          <p:cNvPr id="48" name="Text 39"/>
          <p:cNvSpPr/>
          <p:nvPr/>
        </p:nvSpPr>
        <p:spPr>
          <a:xfrm>
            <a:off x="8869451" y="4361688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out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10492454" y="3063240"/>
            <a:ext cx="914400" cy="91440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50" name="Image 7" descr="/private/tmp/claude-501/-Users-infradev-Documents-Source-codes-ERP-Based-Clinic-Management-System-Laravel/7c1a51c4-35d8-456b-9267-753b9149be7b/scratchpad/deck/icons/folder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0198" y="3300984"/>
            <a:ext cx="438912" cy="438912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11095958" y="3008376"/>
            <a:ext cx="365760" cy="365760"/>
          </a:xfrm>
          <a:prstGeom prst="ellipse">
            <a:avLst/>
          </a:prstGeom>
          <a:solidFill>
            <a:srgbClr val="E0A1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1109595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3" name="Text 43"/>
          <p:cNvSpPr/>
          <p:nvPr/>
        </p:nvSpPr>
        <p:spPr>
          <a:xfrm>
            <a:off x="10256253" y="4069080"/>
            <a:ext cx="1386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350" dirty="0"/>
          </a:p>
        </p:txBody>
      </p:sp>
      <p:sp>
        <p:nvSpPr>
          <p:cNvPr id="54" name="Text 44"/>
          <p:cNvSpPr/>
          <p:nvPr/>
        </p:nvSpPr>
        <p:spPr>
          <a:xfrm>
            <a:off x="10256253" y="4361688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lasting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548640" y="5440680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F2F6FD"/>
          </a:solidFill>
          <a:ln w="12700">
            <a:solidFill>
              <a:srgbClr val="DFE8F6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768096" y="5605272"/>
            <a:ext cx="420624" cy="420624"/>
          </a:xfrm>
          <a:prstGeom prst="ellipse">
            <a:avLst/>
          </a:prstGeom>
          <a:solidFill>
            <a:srgbClr val="E7EFFB"/>
          </a:solidFill>
          <a:ln/>
        </p:spPr>
      </p:sp>
      <p:pic>
        <p:nvPicPr>
          <p:cNvPr id="57" name="Image 8" descr="/private/tmp/claude-501/-Users-infradev-Documents-Source-codes-ERP-Based-Clinic-Management-System-Laravel/7c1a51c4-35d8-456b-9267-753b9149be7b/scratchpad/deck/icons/workflow-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633" y="5697809"/>
            <a:ext cx="235549" cy="235549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1371600" y="5440680"/>
            <a:ext cx="10042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 loop back to the doctor, not out the door.  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skipped, nothing is lost — the workflow enforces safe, complete care.</a:t>
            </a:r>
            <a:endParaRPr lang="en-US" sz="1300" dirty="0"/>
          </a:p>
        </p:txBody>
      </p:sp>
      <p:sp>
        <p:nvSpPr>
          <p:cNvPr id="59" name="Text 48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EVERY DESK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at a glance.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7465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CARE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76281" y="207568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7" name="Image 0" descr="/private/tmp/claude-501/-Users-infradev-Documents-Source-codes-ERP-Based-Clinic-Management-System-Laravel/7c1a51c4-35d8-456b-9267-753b9149be7b/scratchpad/deck/icons/userplu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61" y="22585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89504"/>
            <a:ext cx="1386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263083" y="207568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0" name="Image 1" descr="/private/tmp/claude-501/-Users-infradev-Documents-Source-codes-ERP-Based-Clinic-Management-System-Laravel/7c1a51c4-35d8-456b-9267-753b9149be7b/scratchpad/deck/icons/activity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963" y="22585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35442" y="2889504"/>
            <a:ext cx="1386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649885" y="207568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3" name="Image 2" descr="/private/tmp/claude-501/-Users-infradev-Documents-Source-codes-ERP-Based-Clinic-Management-System-Laravel/7c1a51c4-35d8-456b-9267-753b9149be7b/scratchpad/deck/icons/stethoscop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765" y="225856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22244" y="2889504"/>
            <a:ext cx="1386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036687" y="207568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6" name="Image 3" descr="/private/tmp/claude-501/-Users-infradev-Documents-Source-codes-ERP-Based-Clinic-Management-System-Laravel/7c1a51c4-35d8-456b-9267-753b9149be7b/scratchpad/deck/icons/flas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567" y="2258568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09046" y="2889504"/>
            <a:ext cx="1386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423489" y="207568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9" name="Image 4" descr="/private/tmp/claude-501/-Users-infradev-Documents-Source-codes-ERP-Based-Clinic-Management-System-Laravel/7c1a51c4-35d8-456b-9267-753b9149be7b/scratchpad/deck/icons/pill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369" y="2258568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95848" y="2889504"/>
            <a:ext cx="1386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7810290" y="207568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2" name="Image 5" descr="/private/tmp/claude-501/-Users-infradev-Documents-Source-codes-ERP-Based-Clinic-Management-System-Laravel/7c1a51c4-35d8-456b-9267-753b9149be7b/scratchpad/deck/icons/bed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170" y="2258568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82650" y="2889504"/>
            <a:ext cx="1386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9197092" y="207568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5" name="Image 6" descr="/private/tmp/claude-501/-Users-infradev-Documents-Source-codes-ERP-Based-Clinic-Management-System-Laravel/7c1a51c4-35d8-456b-9267-753b9149be7b/scratchpad/deck/icons/send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9972" y="2258568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869451" y="2889504"/>
            <a:ext cx="1386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10583894" y="207568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8" name="Image 7" descr="/private/tmp/claude-501/-Users-infradev-Documents-Source-codes-ERP-Based-Clinic-Management-System-Laravel/7c1a51c4-35d8-456b-9267-753b9149be7b/scratchpad/deck/icons/calendar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6774" y="2258568"/>
            <a:ext cx="365760" cy="36576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256253" y="2889504"/>
            <a:ext cx="1386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50" dirty="0"/>
          </a:p>
        </p:txBody>
      </p:sp>
      <p:sp>
        <p:nvSpPr>
          <p:cNvPr id="30" name="Text 20"/>
          <p:cNvSpPr/>
          <p:nvPr/>
        </p:nvSpPr>
        <p:spPr>
          <a:xfrm>
            <a:off x="548640" y="33284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1569682" y="3657600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32" name="Image 8" descr="/private/tmp/claude-501/-Users-infradev-Documents-Source-codes-ERP-Based-Clinic-Management-System-Laravel/7c1a51c4-35d8-456b-9267-753b9149be7b/scratchpad/deck/icons/receipt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562" y="3840480"/>
            <a:ext cx="365760" cy="3657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48640" y="4471416"/>
            <a:ext cx="2773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50" dirty="0"/>
          </a:p>
        </p:txBody>
      </p:sp>
      <p:sp>
        <p:nvSpPr>
          <p:cNvPr id="34" name="Shape 23"/>
          <p:cNvSpPr/>
          <p:nvPr/>
        </p:nvSpPr>
        <p:spPr>
          <a:xfrm>
            <a:off x="4343286" y="3657600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35" name="Image 9" descr="/private/tmp/claude-501/-Users-infradev-Documents-Source-codes-ERP-Based-Clinic-Management-System-Laravel/7c1a51c4-35d8-456b-9267-753b9149be7b/scratchpad/deck/icons/users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6166" y="3840480"/>
            <a:ext cx="365760" cy="36576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3322244" y="4471416"/>
            <a:ext cx="2773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150" dirty="0"/>
          </a:p>
        </p:txBody>
      </p:sp>
      <p:sp>
        <p:nvSpPr>
          <p:cNvPr id="37" name="Shape 25"/>
          <p:cNvSpPr/>
          <p:nvPr/>
        </p:nvSpPr>
        <p:spPr>
          <a:xfrm>
            <a:off x="7116890" y="3657600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38" name="Image 10" descr="/private/tmp/claude-501/-Users-infradev-Documents-Source-codes-ERP-Based-Clinic-Management-System-Laravel/7c1a51c4-35d8-456b-9267-753b9149be7b/scratchpad/deck/icons/box-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9770" y="3840480"/>
            <a:ext cx="365760" cy="36576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095848" y="4471416"/>
            <a:ext cx="2773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Assets</a:t>
            </a:r>
            <a:endParaRPr lang="en-US" sz="1150" dirty="0"/>
          </a:p>
        </p:txBody>
      </p:sp>
      <p:sp>
        <p:nvSpPr>
          <p:cNvPr id="40" name="Shape 27"/>
          <p:cNvSpPr/>
          <p:nvPr/>
        </p:nvSpPr>
        <p:spPr>
          <a:xfrm>
            <a:off x="9890493" y="3657600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41" name="Image 11" descr="/private/tmp/claude-501/-Users-infradev-Documents-Source-codes-ERP-Based-Clinic-Management-System-Laravel/7c1a51c4-35d8-456b-9267-753b9149be7b/scratchpad/deck/icons/chartbar-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73373" y="3840480"/>
            <a:ext cx="365760" cy="36576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869451" y="4471416"/>
            <a:ext cx="2773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150" dirty="0"/>
          </a:p>
        </p:txBody>
      </p:sp>
      <p:sp>
        <p:nvSpPr>
          <p:cNvPr id="43" name="Text 29"/>
          <p:cNvSpPr/>
          <p:nvPr/>
        </p:nvSpPr>
        <p:spPr>
          <a:xfrm>
            <a:off x="548640" y="4910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&amp; PLATFORM</a:t>
            </a:r>
            <a:endParaRPr lang="en-US" sz="1100" dirty="0"/>
          </a:p>
        </p:txBody>
      </p:sp>
      <p:sp>
        <p:nvSpPr>
          <p:cNvPr id="44" name="Shape 30"/>
          <p:cNvSpPr/>
          <p:nvPr/>
        </p:nvSpPr>
        <p:spPr>
          <a:xfrm>
            <a:off x="1569682" y="5239512"/>
            <a:ext cx="731520" cy="731520"/>
          </a:xfrm>
          <a:prstGeom prst="ellipse">
            <a:avLst/>
          </a:prstGeom>
          <a:solidFill>
            <a:srgbClr val="2A5D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45" name="Image 12" descr="/private/tmp/claude-501/-Users-infradev-Documents-Source-codes-ERP-Based-Clinic-Management-System-Laravel/7c1a51c4-35d8-456b-9267-753b9149be7b/scratchpad/deck/icons/smartphone-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2562" y="5422392"/>
            <a:ext cx="365760" cy="36576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548640" y="6053328"/>
            <a:ext cx="2773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150" dirty="0"/>
          </a:p>
        </p:txBody>
      </p:sp>
      <p:sp>
        <p:nvSpPr>
          <p:cNvPr id="47" name="Shape 32"/>
          <p:cNvSpPr/>
          <p:nvPr/>
        </p:nvSpPr>
        <p:spPr>
          <a:xfrm>
            <a:off x="4343286" y="5239512"/>
            <a:ext cx="731520" cy="731520"/>
          </a:xfrm>
          <a:prstGeom prst="ellipse">
            <a:avLst/>
          </a:prstGeom>
          <a:solidFill>
            <a:srgbClr val="2A5D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48" name="Image 13" descr="/private/tmp/claude-501/-Users-infradev-Documents-Source-codes-ERP-Based-Clinic-Management-System-Laravel/7c1a51c4-35d8-456b-9267-753b9149be7b/scratchpad/deck/icons/bot-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6166" y="5422392"/>
            <a:ext cx="365760" cy="36576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3322244" y="6053328"/>
            <a:ext cx="2773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 AI assistant</a:t>
            </a:r>
            <a:endParaRPr lang="en-US" sz="1150" dirty="0"/>
          </a:p>
        </p:txBody>
      </p:sp>
      <p:sp>
        <p:nvSpPr>
          <p:cNvPr id="50" name="Shape 34"/>
          <p:cNvSpPr/>
          <p:nvPr/>
        </p:nvSpPr>
        <p:spPr>
          <a:xfrm>
            <a:off x="7116890" y="5239512"/>
            <a:ext cx="731520" cy="731520"/>
          </a:xfrm>
          <a:prstGeom prst="ellipse">
            <a:avLst/>
          </a:prstGeom>
          <a:solidFill>
            <a:srgbClr val="2A5D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51" name="Image 14" descr="/private/tmp/claude-501/-Users-infradev-Documents-Source-codes-ERP-Based-Clinic-Management-System-Laravel/7c1a51c4-35d8-456b-9267-753b9149be7b/scratchpad/deck/icons/sliders-whit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99770" y="5422392"/>
            <a:ext cx="365760" cy="36576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6095848" y="6053328"/>
            <a:ext cx="2773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toggles</a:t>
            </a:r>
            <a:endParaRPr lang="en-US" sz="1150" dirty="0"/>
          </a:p>
        </p:txBody>
      </p:sp>
      <p:sp>
        <p:nvSpPr>
          <p:cNvPr id="53" name="Shape 36"/>
          <p:cNvSpPr/>
          <p:nvPr/>
        </p:nvSpPr>
        <p:spPr>
          <a:xfrm>
            <a:off x="9890493" y="5239512"/>
            <a:ext cx="731520" cy="731520"/>
          </a:xfrm>
          <a:prstGeom prst="ellipse">
            <a:avLst/>
          </a:prstGeom>
          <a:solidFill>
            <a:srgbClr val="2A5D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54" name="Image 15" descr="/private/tmp/claude-501/-Users-infradev-Documents-Source-codes-ERP-Based-Clinic-Management-System-Laravel/7c1a51c4-35d8-456b-9267-753b9149be7b/scratchpad/deck/icons/shieldcheck-whit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73373" y="5422392"/>
            <a:ext cx="365760" cy="365760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8869451" y="6053328"/>
            <a:ext cx="27736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security</a:t>
            </a:r>
            <a:endParaRPr lang="en-US" sz="1150" dirty="0"/>
          </a:p>
        </p:txBody>
      </p:sp>
      <p:sp>
        <p:nvSpPr>
          <p:cNvPr id="56" name="Text 38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57" name="Text 39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LAST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ideas that keep it</a:t>
            </a:r>
            <a:endParaRPr lang="en-US" sz="33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— and yours.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935224"/>
            <a:ext cx="786384" cy="786384"/>
          </a:xfrm>
          <a:prstGeom prst="ellipse">
            <a:avLst/>
          </a:prstGeom>
          <a:solidFill>
            <a:srgbClr val="E0A112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7" name="Image 0" descr="/private/tmp/claude-501/-Users-infradev-Documents-Source-codes-ERP-Based-Clinic-Management-System-Laravel/7c1a51c4-35d8-456b-9267-753b9149be7b/scratchpad/deck/icons/workflow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3131820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88620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engine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" y="427024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every step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536" y="4617720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follows a defined path, so the system always offers the right next action and never an invalid one. Safer for patients, simpler for staff.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26060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5152" y="2935224"/>
            <a:ext cx="786384" cy="786384"/>
          </a:xfrm>
          <a:prstGeom prst="ellipse">
            <a:avLst/>
          </a:prstGeom>
          <a:solidFill>
            <a:srgbClr val="E0A112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3" name="Image 1" descr="/private/tmp/claude-501/-Users-infradev-Documents-Source-codes-ERP-Based-Clinic-Management-System-Laravel/7c1a51c4-35d8-456b-9267-753b9149be7b/scratchpad/deck/icons/ey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48" y="3131820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88620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Backend-driven screens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45152" y="427024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only what you may do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645152" y="4617720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decides what each person can do; the screen shows exactly that — no more, no less. Permissions can never drift from the buttons.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19872" y="26060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30768" y="2935224"/>
            <a:ext cx="786384" cy="786384"/>
          </a:xfrm>
          <a:prstGeom prst="ellipse">
            <a:avLst/>
          </a:prstGeom>
          <a:solidFill>
            <a:srgbClr val="E0A112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9" name="Image 2" descr="/private/tmp/claude-501/-Users-infradev-Documents-Source-codes-ERP-Based-Clinic-Management-System-Laravel/7c1a51c4-35d8-456b-9267-753b9149be7b/scratchpad/deck/icons/sliders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364" y="3131820"/>
            <a:ext cx="393192" cy="393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30768" y="388620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Toggles &amp; white-label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30768" y="427024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per institution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30768" y="4617720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modules on or off and rebrand the whole system — colours, name and logo — without touching code. One platform, many campuses.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TRUST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access, on every action.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58568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7" name="Image 0" descr="/private/tmp/claude-501/-Users-infradev-Documents-Source-codes-ERP-Based-Clinic-Management-System-Laravel/7c1a51c4-35d8-456b-9267-753b9149be7b/scratchpad/deck/icons/lo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" y="2448763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27685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737360" y="267919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staff roles see only their own areas — reception, doctor, lab, pharmacy, wards, HR and more.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258568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2" name="Image 1" descr="/private/tmp/claude-501/-Users-infradev-Documents-Source-codes-ERP-Based-Clinic-Management-System-Laravel/7c1a51c4-35d8-456b-9267-753b9149be7b/scratchpad/deck/icons/fingerprin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44876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27685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2-factor &amp; passkeys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406640" y="267919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two-factor sign-in, modern passkeys and single-use recovery codes for staff accounts.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70248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7" name="Image 2" descr="/private/tmp/claude-501/-Users-infradev-Documents-Source-codes-ERP-Based-Clinic-Management-System-Laravel/7c1a51c4-35d8-456b-9267-753b9149be7b/scratchpad/deck/icons/list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" y="4460443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2885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737360" y="4690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and action is recorded — a complete, tamper-evident history of who did what.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39776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70248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2" name="Image 3" descr="/private/tmp/claude-501/-Users-infradev-Documents-Source-codes-ERP-Based-Clinic-Management-System-Laravel/7c1a51c4-35d8-456b-9267-753b9149be7b/scratchpad/deck/icons/userx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60443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2885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On-leave auto lockout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406640" y="46908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staff member goes on approved leave, their login is automatically disabled until they return.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STANDOUT DIFFERENTIATOR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anyone can trust.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certificate, referral and visit summary carries a QR code and a short verify code. Anyone — faculty, an employer, a hospital — can confirm it's genuine.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603504" cy="603504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7" name="Image 0" descr="/private/tmp/claude-501/-Users-infradev-Documents-Source-codes-ERP-Based-Clinic-Management-System-Laravel/7c1a51c4-35d8-456b-9267-753b9149be7b/scratchpad/deck/icons/qr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" y="302520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8620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or type the code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71600" y="3154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/verify on any phone — no login, no account, no app to install.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813048"/>
            <a:ext cx="603504" cy="603504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11" name="Image 1" descr="/private/tmp/claude-501/-Users-infradev-Documents-Source-codes-ERP-Based-Clinic-Management-System-Laravel/7c1a51c4-35d8-456b-9267-753b9149be7b/scratchpad/deck/icons/shieldcheck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3957889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7947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by maths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71600" y="4087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cryptographic signature is re-checked live; an edited copy simply won't verify.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745736"/>
            <a:ext cx="603504" cy="603504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15" name="Image 2" descr="/private/tmp/claude-501/-Users-infradev-Documents-Source-codes-ERP-Based-Clinic-Management-System-Laravel/7c1a51c4-35d8-456b-9267-753b9149be7b/scratchpad/deck/icons/badgecheck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4890577"/>
            <a:ext cx="313822" cy="31382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7274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clear outcomes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371600" y="50200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altered, revoked or not-found — an instant, unambiguous answer.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46520" y="1691640"/>
            <a:ext cx="5193792" cy="4069080"/>
          </a:xfrm>
          <a:prstGeom prst="roundRect">
            <a:avLst>
              <a:gd name="adj" fmla="val 2697"/>
            </a:avLst>
          </a:prstGeom>
          <a:solidFill>
            <a:srgbClr val="EEF3FB"/>
          </a:solidFill>
          <a:ln w="12700">
            <a:solidFill>
              <a:srgbClr val="17315A"/>
            </a:solidFill>
            <a:prstDash val="solid"/>
          </a:ln>
          <a:effectLst>
            <a:outerShdw sx="100000" sy="100000" kx="0" ky="0" algn="bl" rotWithShape="0" blurRad="152400" dist="50800" dir="5400000">
              <a:srgbClr val="060f1f">
                <a:alpha val="45000"/>
              </a:srgbClr>
            </a:outerShdw>
          </a:effectLst>
        </p:spPr>
      </p:sp>
      <p:pic>
        <p:nvPicPr>
          <p:cNvPr id="19" name="Image 3" descr="/Users/infradev/Documents/Source-codes/ERP-Based-Clinic-Management-System-Laravel/docs/product/assets/shot-verify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92824" y="1837944"/>
            <a:ext cx="4901184" cy="3776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46520" y="580644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 page  ·  /verify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SABA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careful AI copilot — read-only</a:t>
            </a:r>
            <a:endParaRPr lang="en-US" sz="33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design.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2F6FD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2432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7" name="Image 0" descr="/private/tmp/claude-501/-Users-infradev-Documents-Source-codes-ERP-Based-Clinic-Management-System-Laravel/7c1a51c4-35d8-456b-9267-753b9149be7b/scratchpad/deck/icons/stethoscop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072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6243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doctors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99008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History-aware support — differentials, tests to consider and red-flags to watch, framed as decision support for the visit on screen.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23317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BF5E8"/>
          </a:solidFill>
          <a:ln w="12700">
            <a:solidFill>
              <a:srgbClr val="F0E2C2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624328"/>
            <a:ext cx="731520" cy="731520"/>
          </a:xfrm>
          <a:prstGeom prst="ellipse">
            <a:avLst/>
          </a:prstGeom>
          <a:solidFill>
            <a:srgbClr val="E0A112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2" name="Image 1" descr="/private/tmp/claude-501/-Users-infradev-Documents-Source-codes-ERP-Based-Clinic-Management-System-Laravel/7c1a51c4-35d8-456b-9267-753b9149be7b/scratchpad/deck/icons/hear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8072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6243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06640" y="299008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caring guide — gentle self-care advice based on the student's own visits, and a nudge to come in or seek help when it matters.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61772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892040"/>
            <a:ext cx="603504" cy="603504"/>
          </a:xfrm>
          <a:prstGeom prst="ellipse">
            <a:avLst/>
          </a:prstGeom>
          <a:solidFill>
            <a:srgbClr val="0C1F3D"/>
          </a:solidFill>
          <a:ln/>
        </p:spPr>
      </p:sp>
      <p:pic>
        <p:nvPicPr>
          <p:cNvPr id="17" name="Image 2" descr="/private/tmp/claude-501/-Users-infradev-Documents-Source-codes-ERP-Based-Clinic-Management-System-Laravel/7c1a51c4-35d8-456b-9267-753b9149be7b/scratchpad/deck/icons/lo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5042916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910328"/>
            <a:ext cx="2417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read-only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4672" y="555040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and looks up — never changes, orders or approves anything.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338218" y="461772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94250" y="4892040"/>
            <a:ext cx="603504" cy="603504"/>
          </a:xfrm>
          <a:prstGeom prst="ellipse">
            <a:avLst/>
          </a:prstGeom>
          <a:solidFill>
            <a:srgbClr val="0C1F3D"/>
          </a:solidFill>
          <a:ln/>
        </p:spPr>
      </p:sp>
      <p:pic>
        <p:nvPicPr>
          <p:cNvPr id="22" name="Image 3" descr="/private/tmp/claude-501/-Users-infradev-Documents-Source-codes-ERP-Based-Clinic-Management-System-Laravel/7c1a51c4-35d8-456b-9267-753b9149be7b/scratchpad/deck/icons/shieldche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126" y="5042916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98338" y="4910328"/>
            <a:ext cx="2417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Access-controlled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94250" y="555040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person only what they're allowed to see — nothing else.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127797" y="461772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383829" y="4892040"/>
            <a:ext cx="603504" cy="603504"/>
          </a:xfrm>
          <a:prstGeom prst="ellipse">
            <a:avLst/>
          </a:prstGeom>
          <a:solidFill>
            <a:srgbClr val="0C1F3D"/>
          </a:solidFill>
          <a:ln/>
        </p:spPr>
      </p:sp>
      <p:pic>
        <p:nvPicPr>
          <p:cNvPr id="27" name="Image 4" descr="/private/tmp/claude-501/-Users-infradev-Documents-Source-codes-ERP-Based-Clinic-Management-System-Laravel/7c1a51c4-35d8-456b-9267-753b9149be7b/scratchpad/deck/icons/messages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705" y="5042916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87917" y="4910328"/>
            <a:ext cx="2417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on task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8383829" y="5550408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clinic questions only; politely declines everything off-topic.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affordable or free AI — Groq today, swappable to OpenAI or an on-campus Ollama server so no data need leave the clinic.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Signed, printable, verifiable.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documents on university letterhead — each one signed, sealed with a QR code, and re-printable exactly as issued.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620469" cy="228600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4535" y="3035808"/>
            <a:ext cx="868680" cy="86868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8" name="Image 0" descr="/private/tmp/claude-501/-Users-infradev-Documents-Source-codes-ERP-Based-Clinic-Management-System-Laravel/7c1a51c4-35d8-456b-9267-753b9149be7b/scratchpad/deck/icons/filetex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05" y="3252978"/>
            <a:ext cx="434340" cy="4343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114800"/>
            <a:ext cx="16204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Sick-leave</a:t>
            </a:r>
            <a:endParaRPr lang="en-US" sz="13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443429" y="2651760"/>
            <a:ext cx="1620469" cy="228600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19324" y="3035808"/>
            <a:ext cx="868680" cy="86868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2" name="Image 1" descr="/private/tmp/claude-501/-Users-infradev-Documents-Source-codes-ERP-Based-Clinic-Management-System-Laravel/7c1a51c4-35d8-456b-9267-753b9149be7b/scratchpad/deck/icons/pill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494" y="3252978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43429" y="4114800"/>
            <a:ext cx="16204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38218" y="2651760"/>
            <a:ext cx="1620469" cy="228600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14113" y="3035808"/>
            <a:ext cx="868680" cy="86868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6" name="Image 2" descr="/private/tmp/claude-501/-Users-infradev-Documents-Source-codes-ERP-Based-Clinic-Management-System-Laravel/7c1a51c4-35d8-456b-9267-753b9149be7b/scratchpad/deck/icons/flas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283" y="3252978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38218" y="4114800"/>
            <a:ext cx="16204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reports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233008" y="2651760"/>
            <a:ext cx="1620469" cy="228600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08902" y="3035808"/>
            <a:ext cx="868680" cy="86868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0" name="Image 3" descr="/private/tmp/claude-501/-Users-infradev-Documents-Source-codes-ERP-Based-Clinic-Management-System-Laravel/7c1a51c4-35d8-456b-9267-753b9149be7b/scratchpad/deck/icons/sen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072" y="3252978"/>
            <a:ext cx="434340" cy="4343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33008" y="4114800"/>
            <a:ext cx="16204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letters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127797" y="2651760"/>
            <a:ext cx="1620469" cy="228600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503691" y="3035808"/>
            <a:ext cx="868680" cy="86868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4" name="Image 4" descr="/private/tmp/claude-501/-Users-infradev-Documents-Source-codes-ERP-Based-Clinic-Management-System-Laravel/7c1a51c4-35d8-456b-9267-753b9149be7b/scratchpad/deck/icons/clipboard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0861" y="3252978"/>
            <a:ext cx="434340" cy="4343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27797" y="4114800"/>
            <a:ext cx="16204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</a:t>
            </a:r>
            <a:endParaRPr lang="en-US" sz="13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10022586" y="2651760"/>
            <a:ext cx="1620469" cy="228600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398481" y="3035808"/>
            <a:ext cx="868680" cy="86868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8" name="Image 5" descr="/private/tmp/claude-501/-Users-infradev-Documents-Source-codes-ERP-Based-Clinic-Management-System-Laravel/7c1a51c4-35d8-456b-9267-753b9149be7b/scratchpad/deck/icons/folder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5651" y="3252978"/>
            <a:ext cx="434340" cy="4343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022586" y="4114800"/>
            <a:ext cx="16204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</a:t>
            </a:r>
            <a:endParaRPr lang="en-US" sz="13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2F6FD"/>
          </a:solidFill>
          <a:ln w="12700">
            <a:solidFill>
              <a:srgbClr val="DFE8F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04672" y="5468112"/>
            <a:ext cx="457200" cy="457200"/>
          </a:xfrm>
          <a:prstGeom prst="ellipse">
            <a:avLst/>
          </a:prstGeom>
          <a:solidFill>
            <a:srgbClr val="E7EFFB"/>
          </a:solidFill>
          <a:ln/>
        </p:spPr>
      </p:sp>
      <p:pic>
        <p:nvPicPr>
          <p:cNvPr id="32" name="Image 6" descr="/private/tmp/claude-501/-Users-infradev-Documents-Source-codes-ERP-Based-Clinic-Management-System-Laravel/7c1a51c4-35d8-456b-9267-753b9149be7b/scratchpad/deck/icons/qr-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" y="5564124"/>
            <a:ext cx="265176" cy="26517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463040" y="5257800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carries a verify seal.  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code and short code let faculty, employers or hospitals confirm authenticity at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instantly, with no login.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FOR DDU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on day one.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70048" cy="2880360"/>
          </a:xfrm>
          <a:prstGeom prst="roundRect">
            <a:avLst>
              <a:gd name="adj" fmla="val 4110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06040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per student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563624" y="4133088"/>
            <a:ext cx="640080" cy="0"/>
          </a:xfrm>
          <a:prstGeom prst="line">
            <a:avLst/>
          </a:prstGeom>
          <a:noFill/>
          <a:ln w="19050">
            <a:solidFill>
              <a:srgbClr val="2C4C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261104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visit, result and prescription in a single connected chart.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8144" y="2286000"/>
            <a:ext cx="2670048" cy="2880360"/>
          </a:xfrm>
          <a:prstGeom prst="roundRect">
            <a:avLst>
              <a:gd name="adj" fmla="val 4110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2606040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575304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documents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453128" y="4133088"/>
            <a:ext cx="640080" cy="0"/>
          </a:xfrm>
          <a:prstGeom prst="line">
            <a:avLst/>
          </a:prstGeom>
          <a:noFill/>
          <a:ln w="19050">
            <a:solidFill>
              <a:srgbClr val="2C4C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4261104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and letter can be confirmed genuine in seconds.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27648" y="2286000"/>
            <a:ext cx="2670048" cy="2880360"/>
          </a:xfrm>
          <a:prstGeom prst="roundRect">
            <a:avLst>
              <a:gd name="adj" fmla="val 4110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2606040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464808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one system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342632" y="4133088"/>
            <a:ext cx="640080" cy="0"/>
          </a:xfrm>
          <a:prstGeom prst="line">
            <a:avLst/>
          </a:prstGeom>
          <a:noFill/>
          <a:ln w="19050">
            <a:solidFill>
              <a:srgbClr val="2C4C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4261104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to management working from the same live information.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17152" y="2286000"/>
            <a:ext cx="2670048" cy="2880360"/>
          </a:xfrm>
          <a:prstGeom prst="roundRect">
            <a:avLst>
              <a:gd name="adj" fmla="val 4110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2606040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9354312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oversight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0232136" y="4133088"/>
            <a:ext cx="640080" cy="0"/>
          </a:xfrm>
          <a:prstGeom prst="line">
            <a:avLst/>
          </a:prstGeom>
          <a:noFill/>
          <a:ln w="19050">
            <a:solidFill>
              <a:srgbClr val="2C4C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4261104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demand, queues, stock and outcomes for leadership.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care, less paper, one trusted source of truth — and the data to keep improving.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&amp; LOW-COST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anywhere. Scales cheaply.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5856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7" name="Image 0" descr="/private/tmp/claude-501/-Users-infradev-Documents-Source-codes-ERP-Based-Clinic-Management-System-Laravel/7c1a51c4-35d8-456b-9267-753b9149be7b/scratchpad/deck/icons/clou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27685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in the cloud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6791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modern serverless hosting — capacity flexes with demand, so you pay for what you use.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258568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2" name="Image 1" descr="/private/tmp/claude-501/-Users-infradev-Documents-Source-codes-ERP-Based-Clinic-Management-System-Laravel/7c1a51c4-35d8-456b-9267-753b9149be7b/scratchpad/deck/icons/building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4414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27685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on a campus server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06640" y="26791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to keep everything on-site? The same system can run on a university server. Your choice.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315968"/>
            <a:ext cx="731520" cy="73152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7" name="Image 2" descr="/private/tmp/claude-501/-Users-infradev-Documents-Source-codes-ERP-Based-Clinic-Management-System-Laravel/7c1a51c4-35d8-456b-9267-753b9149be7b/scratchpad/deck/icons/smartphon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988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33425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37360" y="47365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website. Staff and students just open a link on any phone, tablet or computer.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0233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315968"/>
            <a:ext cx="731520" cy="73152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22" name="Image 3" descr="/private/tmp/claude-501/-Users-infradev-Documents-Source-codes-ERP-Based-Clinic-Management-System-Laravel/7c1a51c4-35d8-456b-9267-753b9149be7b/scratchpad/deck/icons/trending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49884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33425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10k+ students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06640" y="47365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serve the whole campus affordably — and other university clinics after that.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1228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85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CONCEPT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already built,</a:t>
            </a:r>
            <a:endParaRPr lang="en-US" sz="33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already live.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complete, working platform with a live demo you can use today — not slideware and not a prototype. Every screen, workflow and document in this deck exists and runs right now.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7" name="Image 0" descr="/private/tmp/claude-501/-Users-infradev-Documents-Source-codes-ERP-Based-Clinic-Management-System-Laravel/7c1a51c4-35d8-456b-9267-753b9149be7b/scratchpad/deck/icons/check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40782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workflows running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581144"/>
            <a:ext cx="457200" cy="457200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10" name="Image 1" descr="/private/tmp/claude-501/-Users-infradev-Documents-Source-codes-ERP-Based-Clinic-Management-System-Laravel/7c1a51c4-35d8-456b-9267-753b9149be7b/scratchpad/deck/icons/check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681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581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demo data loaded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5184648"/>
            <a:ext cx="457200" cy="457200"/>
          </a:xfrm>
          <a:prstGeom prst="ellipse">
            <a:avLst/>
          </a:prstGeom>
          <a:solidFill>
            <a:srgbClr val="10233F"/>
          </a:solidFill>
          <a:ln w="12700">
            <a:solidFill>
              <a:srgbClr val="22406E"/>
            </a:solidFill>
            <a:prstDash val="solid"/>
          </a:ln>
        </p:spPr>
      </p:sp>
      <p:pic>
        <p:nvPicPr>
          <p:cNvPr id="13" name="Image 2" descr="/private/tmp/claude-501/-Users-infradev-Documents-Source-codes-ERP-Based-Clinic-Management-System-Laravel/7c1a51c4-35d8-456b-9267-753b9149be7b/scratchpad/deck/icons/check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52852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5184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Signed, verifiable documents live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291072" y="1033272"/>
            <a:ext cx="5458968" cy="3494151"/>
          </a:xfrm>
          <a:prstGeom prst="roundRect">
            <a:avLst>
              <a:gd name="adj" fmla="val 3664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  <a:effectLst>
            <a:outerShdw sx="100000" sy="100000" kx="0" ky="0" algn="bl" rotWithShape="0" blurRad="177800" dist="50800" dir="5400000">
              <a:srgbClr val="060f1f">
                <a:alpha val="50000"/>
              </a:srgbClr>
            </a:outerShdw>
          </a:effectLst>
        </p:spPr>
      </p:sp>
      <p:pic>
        <p:nvPicPr>
          <p:cNvPr id="16" name="Image 3" descr="/Users/infradev/Documents/Source-codes/ERP-Based-Clinic-Management-System-Laravel/docs/product/assets/shot-la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43000"/>
            <a:ext cx="5239512" cy="3274695"/>
          </a:xfrm>
          <a:prstGeom prst="ellipse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1072" y="4582287"/>
            <a:ext cx="545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student-facing landing page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A5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platform, more places to reach it.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 done. What's next simply extends its reach — so the clinic needs less costly hardware, and students carry their clinic in their pocket.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843784"/>
            <a:ext cx="868680" cy="868680"/>
          </a:xfrm>
          <a:prstGeom prst="ellipse">
            <a:avLst/>
          </a:prstGeom>
          <a:solidFill>
            <a:srgbClr val="1A56B0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8" name="Image 0" descr="/private/tmp/claude-501/-Users-infradev-Documents-Source-codes-ERP-Based-Clinic-Management-System-Laravel/7c1a51c4-35d8-456b-9267-753b9149be7b/scratchpad/deck/icons/table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6" y="3060954"/>
            <a:ext cx="434340" cy="4343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38404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tablet apps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9536" y="4206240"/>
            <a:ext cx="4764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clinical flows on phones and tablets — so the clinic doesn't need a costly desktop at every desk.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5146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9F4"/>
            </a:solidFill>
            <a:prstDash val="solid"/>
          </a:ln>
          <a:effectLst>
            <a:outerShdw sx="100000" sy="100000" kx="0" ky="0" algn="bl" rotWithShape="0" blurRad="114300" dist="25400" dir="5400000">
              <a:srgbClr val="9fb0c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28816" y="2843784"/>
            <a:ext cx="868680" cy="868680"/>
          </a:xfrm>
          <a:prstGeom prst="ellipse">
            <a:avLst/>
          </a:prstGeom>
          <a:solidFill>
            <a:srgbClr val="0C1F3D"/>
          </a:solidFill>
          <a:ln/>
          <a:effectLst>
            <a:outerShdw sx="100000" sy="100000" kx="0" ky="0" algn="bl" rotWithShape="0" blurRad="88900" dist="25400" dir="5400000">
              <a:srgbClr val="0a1730">
                <a:alpha val="28000"/>
              </a:srgbClr>
            </a:outerShdw>
          </a:effectLst>
        </p:spPr>
      </p:sp>
      <p:pic>
        <p:nvPicPr>
          <p:cNvPr id="13" name="Image 1" descr="/private/tmp/claude-501/-Users-infradev-Documents-Source-codes-ERP-Based-Clinic-Management-System-Laravel/7c1a51c4-35d8-456b-9267-753b9149be7b/scratchpad/deck/icons/smartpho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986" y="3060954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28816" y="38404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clinic app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28816" y="4206240"/>
            <a:ext cx="4764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standalone app for students to check their visit status, documents and appointments on the go.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12700">
            <a:solidFill>
              <a:srgbClr val="DFE8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FBF3DF"/>
          </a:solidFill>
          <a:ln/>
        </p:spPr>
      </p:sp>
      <p:pic>
        <p:nvPicPr>
          <p:cNvPr id="18" name="Image 2" descr="/private/tmp/claude-501/-Users-infradev-Documents-Source-codes-ERP-Based-Clinic-Management-System-Laravel/7c1a51c4-35d8-456b-9267-753b9149be7b/scratchpad/deck/icons/sparkles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35381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502920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E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picture:  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 is one piece of a wider campus digital-lifestyle vision — a separate future initiative for another day.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91495" y="548640"/>
            <a:ext cx="1051560" cy="1051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81226">
                <a:alpha val="35000"/>
              </a:srgbClr>
            </a:outerShdw>
          </a:effectLst>
        </p:spPr>
      </p:sp>
      <p:pic>
        <p:nvPicPr>
          <p:cNvPr id="3" name="Image 0" descr="/Users/infradev/Documents/Source-codes/ERP-Based-Clinic-Management-System-Laravel/docs/product/assets/ddu-logo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511" y="676656"/>
            <a:ext cx="795528" cy="7955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08076"/>
            <a:ext cx="100584" cy="100584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512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deploy DDU Clinic</a:t>
            </a:r>
            <a:endParaRPr lang="en-US" sz="33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university.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7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ready to partner with the university to put this into the hands of the clinic and the students it serves — as an alumnus, giving back something real.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9536" y="3374136"/>
            <a:ext cx="658368" cy="658368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" y="3374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59536" y="420624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pilot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59536" y="459943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live for the student clinic with real workflows and a small team.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34256" y="306324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374136"/>
            <a:ext cx="658368" cy="658368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15" name="Text 12"/>
          <p:cNvSpPr/>
          <p:nvPr/>
        </p:nvSpPr>
        <p:spPr>
          <a:xfrm>
            <a:off x="4645152" y="3374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645152" y="420624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campus-wide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645152" y="459943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every desk and the full student body, department by department.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19872" y="306324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30768" y="3374136"/>
            <a:ext cx="658368" cy="658368"/>
          </a:xfrm>
          <a:prstGeom prst="ellipse">
            <a:avLst/>
          </a:prstGeom>
          <a:solidFill>
            <a:srgbClr val="E0A112"/>
          </a:solidFill>
          <a:ln/>
        </p:spPr>
      </p:sp>
      <p:sp>
        <p:nvSpPr>
          <p:cNvPr id="20" name="Text 17"/>
          <p:cNvSpPr/>
          <p:nvPr/>
        </p:nvSpPr>
        <p:spPr>
          <a:xfrm>
            <a:off x="8430768" y="3374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430768" y="420624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together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8430768" y="459943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mobile apps and connect to campus systems as the partnership matures.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E0A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30-minute walkthrough of the live system, at your convenience.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097280"/>
            <a:ext cx="1554480" cy="1554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81226">
                <a:alpha val="35000"/>
              </a:srgbClr>
            </a:outerShdw>
          </a:effectLst>
        </p:spPr>
      </p:sp>
      <p:pic>
        <p:nvPicPr>
          <p:cNvPr id="3" name="Image 0" descr="/Users/infradev/Documents/Source-codes/ERP-Based-Clinic-Management-System-Laravel/docs/product/assets/ddu-logo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4" y="1225296"/>
            <a:ext cx="1298448" cy="1298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alumni, </a:t>
            </a:r>
            <a:pPr algn="ctr" indent="0" marL="0">
              <a:buNone/>
            </a:pPr>
            <a:r>
              <a:rPr lang="en-US" sz="2000" b="1" dirty="0">
                <a:solidFill>
                  <a:srgbClr val="E0A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university.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66648" y="48920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2952" y="5010912"/>
            <a:ext cx="402336" cy="402336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8" name="Image 1" descr="/private/tmp/claude-501/-Users-infradev-Documents-Source-codes-ERP-Based-Clinic-Management-System-Laravel/7c1a51c4-35d8-456b-9267-753b9149be7b/scratchpad/deck/icons/mail-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466" y="5099426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25016" y="4892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Bereket Zelalem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41368" y="48920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87672" y="5010912"/>
            <a:ext cx="402336" cy="402336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12" name="Image 2" descr="/private/tmp/claude-501/-Users-infradev-Documents-Source-codes-ERP-Based-Clinic-Management-System-Laravel/7c1a51c4-35d8-456b-9267-753b9149be7b/scratchpad/deck/icons/cap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186" y="5099426"/>
            <a:ext cx="225308" cy="2253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99736" y="4892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 Dawa University alumnus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016088" y="48920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13294D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162392" y="5010912"/>
            <a:ext cx="402336" cy="402336"/>
          </a:xfrm>
          <a:prstGeom prst="ellipse">
            <a:avLst/>
          </a:prstGeom>
          <a:solidFill>
            <a:srgbClr val="10233F"/>
          </a:solidFill>
          <a:ln/>
        </p:spPr>
      </p:sp>
      <p:pic>
        <p:nvPicPr>
          <p:cNvPr id="16" name="Image 3" descr="/private/tmp/claude-501/-Users-infradev-Documents-Source-codes-ERP-Based-Clinic-Management-System-Laravel/7c1a51c4-35d8-456b-9267-753b9149be7b/scratchpad/deck/icons/heartpulse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906" y="5099426"/>
            <a:ext cx="225308" cy="2253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74456" y="4892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DDU Clinic platform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Dire Dawa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DDU Clinic — Pitch</dc:title>
  <dc:subject>PptxGenJS Presentation</dc:subject>
  <dc:creator>Bereket Zelalem</dc:creator>
  <cp:lastModifiedBy>Bereket Zelalem</cp:lastModifiedBy>
  <cp:revision>1</cp:revision>
  <dcterms:created xsi:type="dcterms:W3CDTF">2026-08-25T12:26:48Z</dcterms:created>
  <dcterms:modified xsi:type="dcterms:W3CDTF">2026-08-25T12:26:48Z</dcterms:modified>
</cp:coreProperties>
</file>